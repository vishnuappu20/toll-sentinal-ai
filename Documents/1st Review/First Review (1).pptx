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97" r:id="rId3"/>
    <p:sldId id="258" r:id="rId4"/>
    <p:sldId id="257" r:id="rId5"/>
    <p:sldId id="269" r:id="rId6"/>
    <p:sldId id="259" r:id="rId7"/>
    <p:sldId id="260" r:id="rId8"/>
    <p:sldId id="261" r:id="rId9"/>
    <p:sldId id="262" r:id="rId10"/>
    <p:sldId id="271" r:id="rId11"/>
    <p:sldId id="263" r:id="rId12"/>
    <p:sldId id="264" r:id="rId13"/>
    <p:sldId id="265" r:id="rId14"/>
    <p:sldId id="266" r:id="rId15"/>
    <p:sldId id="275" r:id="rId16"/>
    <p:sldId id="277" r:id="rId17"/>
    <p:sldId id="276" r:id="rId18"/>
    <p:sldId id="298" r:id="rId19"/>
    <p:sldId id="299" r:id="rId20"/>
    <p:sldId id="274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88" r:id="rId33"/>
    <p:sldId id="290" r:id="rId34"/>
    <p:sldId id="291" r:id="rId35"/>
    <p:sldId id="294" r:id="rId36"/>
    <p:sldId id="293" r:id="rId37"/>
    <p:sldId id="292" r:id="rId38"/>
    <p:sldId id="295" r:id="rId39"/>
    <p:sldId id="296" r:id="rId40"/>
    <p:sldId id="272" r:id="rId41"/>
    <p:sldId id="267" r:id="rId42"/>
    <p:sldId id="273" r:id="rId43"/>
    <p:sldId id="26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>
      <p:cViewPr varScale="1">
        <p:scale>
          <a:sx n="78" d="100"/>
          <a:sy n="78" d="100"/>
        </p:scale>
        <p:origin x="71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6A8F3D-8A12-DBF0-4627-3EFE208125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A9349-222E-05CA-56B3-F1A42B9C6F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CA07A-DEAC-4907-95F1-95F9B583035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1753A-8DF1-EF58-EA35-7F126B85BD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A1910-46D6-7984-72AA-8F91DD2B30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855B-DA51-4425-9C95-08BDF64963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067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C0FBF-8831-48F2-8348-217D21B2DAE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65710-CD10-47FD-AF8F-8069574D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2944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65710-CD10-47FD-AF8F-8069574DB40D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4897-9ABC-D468-FDD0-F253B647CC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3BACB-9C68-4466-B5C7-CB5CF035AD6C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7DF03-BD84-4F8C-9439-641534C7205A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68899-9DAE-41F4-8EB0-68E5948B4D54}" type="datetime1">
              <a:rPr lang="en-US" smtClean="0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00408-147D-4F3E-A419-0D5AB788F41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8553C-D320-4DA9-9509-99B4FBF13F2A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9338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543" y="2026158"/>
            <a:ext cx="1085278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7BD56AB-E346-4E50-BED0-22750987B53F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>
        <a:defRPr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raset.com/research-paper/finding-stolen-vehicles-using-traffic-cameras" TargetMode="External"/><Relationship Id="rId2" Type="http://schemas.openxmlformats.org/officeDocument/2006/relationships/hyperlink" Target="https://arxiv.org/abs/2412.1219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1060168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0837818" TargetMode="External"/><Relationship Id="rId2" Type="http://schemas.openxmlformats.org/officeDocument/2006/relationships/hyperlink" Target="https://www.researchgate.net/publication/389767336_Real_Time_Vehicle_Classification_Using_Deep_Learning-Smart_Traffic_Managemen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560421"/>
            <a:ext cx="12115800" cy="1736373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93420" marR="5080" indent="-681355" algn="ctr">
              <a:lnSpc>
                <a:spcPts val="4320"/>
              </a:lnSpc>
              <a:spcBef>
                <a:spcPts val="640"/>
              </a:spcBef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Toll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Sentinal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Ai:</a:t>
            </a:r>
            <a:b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AI-Based Vehicle Identification &amp; Verification System at Toll Plazas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F959F-F6CF-7C0A-C69A-D3BB184F42D2}"/>
              </a:ext>
            </a:extLst>
          </p:cNvPr>
          <p:cNvSpPr txBox="1"/>
          <p:nvPr/>
        </p:nvSpPr>
        <p:spPr>
          <a:xfrm>
            <a:off x="676710" y="3810000"/>
            <a:ext cx="4885889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details: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Hareendran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(TLY23CS126)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Sreelakshmi Tm-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(TLY23CS114)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Parthav Dileep S-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(TLY23CS084)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Thejus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Prakash-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(TLY23CS121)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9480E-F095-8FB4-6AAC-BECCE53C864B}"/>
              </a:ext>
            </a:extLst>
          </p:cNvPr>
          <p:cNvSpPr txBox="1"/>
          <p:nvPr/>
        </p:nvSpPr>
        <p:spPr>
          <a:xfrm>
            <a:off x="7162800" y="3810000"/>
            <a:ext cx="5929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Guided By: </a:t>
            </a:r>
          </a:p>
          <a:p>
            <a:r>
              <a:rPr lang="en-IN" sz="2000" dirty="0" err="1"/>
              <a:t>Prof.Swathi</a:t>
            </a:r>
            <a:r>
              <a:rPr lang="en-IN" sz="2000" dirty="0"/>
              <a:t> Ajaykumar</a:t>
            </a:r>
          </a:p>
          <a:p>
            <a:r>
              <a:rPr lang="en-IN" sz="2000" dirty="0"/>
              <a:t>Assistant Professor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E599C-526B-66E2-6714-824C43F1EBB4}"/>
              </a:ext>
            </a:extLst>
          </p:cNvPr>
          <p:cNvSpPr txBox="1"/>
          <p:nvPr/>
        </p:nvSpPr>
        <p:spPr>
          <a:xfrm>
            <a:off x="4267200" y="2784901"/>
            <a:ext cx="3189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First Review</a:t>
            </a:r>
          </a:p>
          <a:p>
            <a:pPr algn="ctr"/>
            <a:r>
              <a:rPr lang="en-IN" sz="2400" dirty="0"/>
              <a:t>09/02/2026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70438-74CA-E3E0-F0E0-BC3D19A24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A291A3-D971-8677-6FED-F23AD6043A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D018C-088E-8B6C-7FD8-A506FB896AF3}"/>
              </a:ext>
            </a:extLst>
          </p:cNvPr>
          <p:cNvSpPr txBox="1"/>
          <p:nvPr/>
        </p:nvSpPr>
        <p:spPr>
          <a:xfrm>
            <a:off x="685800" y="347339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8E596-8AA0-DCC7-6421-7B7B3280CA1B}"/>
              </a:ext>
            </a:extLst>
          </p:cNvPr>
          <p:cNvSpPr txBox="1"/>
          <p:nvPr/>
        </p:nvSpPr>
        <p:spPr>
          <a:xfrm>
            <a:off x="914400" y="1066800"/>
            <a:ext cx="5410200" cy="722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2.Objectives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3.Motivation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4.Existing System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5.Proposed System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6.Literature Review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7.Comparison Table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8.Work Plan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9.Software Requirement Specification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10.Software And Hardware Requirements</a:t>
            </a:r>
          </a:p>
          <a:p>
            <a:pPr>
              <a:lnSpc>
                <a:spcPct val="150000"/>
              </a:lnSpc>
            </a:pPr>
            <a:endParaRPr lang="en-IN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EFC98-424D-1280-535B-98C709818076}"/>
              </a:ext>
            </a:extLst>
          </p:cNvPr>
          <p:cNvSpPr txBox="1"/>
          <p:nvPr/>
        </p:nvSpPr>
        <p:spPr>
          <a:xfrm>
            <a:off x="7391400" y="914400"/>
            <a:ext cx="342900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10.System Architecture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12.Data flow Diagram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13.Use Case Diagram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14.GUI Design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15.Database Design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16.Module Description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17.Demo images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18.Conclusion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19.References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76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39338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653048"/>
            <a:ext cx="11810999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plazas are critical points for monitoring vehicle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 fake number plates and stolen vehicles is a major concern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Criminal vehicles can pass undetected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verification is slow and prone to human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AI-based systems improve accuracy and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to authorities for suspicious or blacklisted vehicles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31171-9057-C7B7-438A-054138B106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2906"/>
            <a:ext cx="769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1752600"/>
            <a:ext cx="10852785" cy="382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design and develop an AI-based automated system for vehicle detection and verification at toll plazas. The system aims to identify fake number plates and stolen vehicles by comparing the detected vehicle details with a predefined database. This approach helps enhance toll plaza security and monitoring efficiency while minimizing manual inspection and reducing human error. Additionally, the system enables real-time vehicle verification and supports timely identification of suspicious vehicles.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B76A1-F5B9-6771-89B7-85868EEF09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4DD4-E865-4280-7B6E-CF1030B2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07" y="486490"/>
            <a:ext cx="7541261" cy="615553"/>
          </a:xfrm>
        </p:spPr>
        <p:txBody>
          <a:bodyPr/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452D-7813-408D-61B3-AA5B3C36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607" y="1524000"/>
            <a:ext cx="10852785" cy="443198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plazas serve as critical checkpoints for vehicle monitoring and law enforcement.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fake number plates and stolen vehicles manually is difficult and unreliable.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traffic density makes manual monitoring at toll plazas inefficient.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 and time delays reduce the effectiveness of traditional verification methods.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 automated system capable of real-time vehicle verification.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3AB5-946A-0823-A5B9-84C114DBE7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7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4724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4000" b="1" u="sng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00" y="1452445"/>
            <a:ext cx="11201400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Vehicle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toll operators to visually inspect vehicles, which is time-consuming and prone to human error.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reviewed after incidents, making real-time detection difficult.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Database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details are not automatically verified with official or internal databases.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plates or stolen vehicles are often detected too late.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Effort: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human monitoring, increasing workload and cost.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EED40-D1BB-A6A4-4232-A8112A12DA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03913"/>
            <a:ext cx="45694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4000" b="1" u="sng" spc="-195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834093" cy="3438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automated vehicle detection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number plate recognition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model and color identification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verification of vehicle details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 generation for mismatches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3606F-7ADB-1514-8474-483A4EEF4F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45694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4000" b="1" u="sng" spc="-185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A5F30-B495-FAB4-2174-7DA64E5E408A}"/>
              </a:ext>
            </a:extLst>
          </p:cNvPr>
          <p:cNvSpPr txBox="1"/>
          <p:nvPr/>
        </p:nvSpPr>
        <p:spPr>
          <a:xfrm>
            <a:off x="419100" y="1524000"/>
            <a:ext cx="1135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1.Karthik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Sivakoti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Detection and Classification for Toll Collection Using YOLOv11 and OCR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arxiv.2412.12191,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https://arxiv.org/abs/2412.12191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Karthikeyan R, Karthikeyan P,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Muthamizh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Selvan M, Babisha A, Suma Christal Mary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S,Swagatha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P(2025).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Stolen Vehicles Using Traffic Cameras.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IJRASET – Journal for Research in Applied Science and Engineering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Technology,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://www.ijraset.com/research-paper/finding-stolen-vehicles-using-traffic-cameras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Twana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Mustafa,Murat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Karabatak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Car Model and Plate Detection System by Using Deep Learning Architectures.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Access,12, 107616 - 107630,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https://ieeexplore.ieee.org/document/10601685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62DEA-7293-931F-B7A4-1CC37EFB73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543" y="457200"/>
            <a:ext cx="4417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4000" b="1" u="sng" spc="-1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61543" y="1447800"/>
            <a:ext cx="11478057" cy="4641911"/>
          </a:xfrm>
          <a:prstGeom prst="rect">
            <a:avLst/>
          </a:prstGeom>
        </p:spPr>
        <p:txBody>
          <a:bodyPr vert="horz" wrap="square" lIns="0" tIns="207898" rIns="0" bIns="0" rtlCol="0">
            <a:spAutoFit/>
          </a:bodyPr>
          <a:lstStyle/>
          <a:p>
            <a:pPr algn="just"/>
            <a:r>
              <a:rPr lang="en-I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Maurya,Saurabh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Kumar,Mritunjay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Rai,Abhishek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Saxena (2025).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Time Vehicle Classification Using Deep Learning—Smart Traffic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10.1002/eng2.70082,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https://www.researchgate.net/publication/389767336_Real_Time_Vehicle_Classification_Using_Deep_Learning-Smart_Traffic_Management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Ramani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Manoj 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K Sohail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 Manikanta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Fake Number Plate Detection And Analysis With Raspberry Pi And Deep Learning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 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4th Asian Conference on Innovation in Technology (ASIANCON).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https://ieeexplore.ieee.org/abstract/document/10837818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E3CB-896B-FF39-F3F6-CCB98C1617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EC83B0-0A80-9045-0040-3BC03EBB9BE8}"/>
              </a:ext>
            </a:extLst>
          </p:cNvPr>
          <p:cNvSpPr txBox="1"/>
          <p:nvPr/>
        </p:nvSpPr>
        <p:spPr>
          <a:xfrm>
            <a:off x="457200" y="228600"/>
            <a:ext cx="1066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Comparison table of </a:t>
            </a:r>
            <a:r>
              <a:rPr lang="en-IN" sz="4000" b="1" u="sng" spc="-1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reasearch</a:t>
            </a:r>
            <a:r>
              <a:rPr lang="en-IN"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papers</a:t>
            </a:r>
            <a:endParaRPr lang="en-IN" sz="4000" dirty="0">
              <a:latin typeface="+mn-l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81C428-1201-B9DB-4F51-D67A7DC24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00085"/>
              </p:ext>
            </p:extLst>
          </p:nvPr>
        </p:nvGraphicFramePr>
        <p:xfrm>
          <a:off x="457200" y="1066802"/>
          <a:ext cx="11277600" cy="5333998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6005695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95708634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14862369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39711057"/>
                    </a:ext>
                  </a:extLst>
                </a:gridCol>
              </a:tblGrid>
              <a:tr h="447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HOW IT RELATES TO OUR PROJECT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103024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Vehicle Detection and Classification for Toll Collection Using YOLO and OCR (2024)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Uses YOLO for vehicle detection and OCR for automatic toll collection based on number plate recognition.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Focuses mainly on toll collection; limited emphasis on vehicle verification and security aspects.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Provides a foundation for vehicle detection and number plate recognition used in our system</a:t>
                      </a:r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31687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Finding Stolen Vehicles Using Traffic Cameras (2025)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Detects stolen vehicles by comparing captured number plates with a database using traffic cameras.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Relies heavily on number plate accuracy; does not include vehicle attributes like color or model.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Supports the concept of database-based verification of stolen vehicles in our project.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68646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Real-Time Car Model and Plate Detection System Using Deep Learning (2024)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Uses deep learning to identify car models and detect number plates in real time.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High computational complexity; limited discussion on deployment in real traffic environments.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Influences vehicle model identification and deep learning-based recognition approach in our project.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222319"/>
                  </a:ext>
                </a:extLst>
              </a:tr>
              <a:tr h="831417">
                <a:tc>
                  <a:txBody>
                    <a:bodyPr/>
                    <a:lstStyle/>
                    <a:p>
                      <a:r>
                        <a:rPr lang="en-US" sz="1200" b="1" dirty="0"/>
                        <a:t>Real-Time Vehicle Classification Using Deep Learning – Smart Traffic Management (2025)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Classifies different vehicle types using deep learning for traffic management applications.</a:t>
                      </a:r>
                      <a:endParaRPr 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98" marR="38198" marT="19099" marB="1909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Designed mainly for traffic analysis, not for security or vehicle verification.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Helps in vehicle type classification (car, bus, truck, bike) used in our system.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787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Real-Time Fake Number Plate Detection with Raspberry Pi and Deep Learning (2024)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Detects fake number plates using deep learning models deployed on Raspberry Pi.</a:t>
                      </a:r>
                      <a:endParaRPr 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98" marR="38198" marT="19099" marB="1909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Hardware limitations affect performance and scalability in high-traffic toll plazas.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Supports fake number plate detection logic integrated into our AI-based verification system.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47768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1FB5A8-BFC0-4FAE-8120-176DAFA6B1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5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03061"/>
            <a:ext cx="56388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4000" b="1" u="sng"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0D90B-A3A2-C532-D560-B3CC84395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6800"/>
            <a:ext cx="8610600" cy="5486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C0F1B-900D-4AAA-56A7-FFB9A6C17B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4724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066800"/>
            <a:ext cx="9996170" cy="62380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Video Acquisition &amp; Frontend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frontend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for user interaction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recorded vehicle videos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also be integrated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CCTV cameras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toll plazas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video input is sent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Django backend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processing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Video Frame Extraction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video is processed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is divided into individual frames at regular intervals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frames are forwarded for AI-based analysis</a:t>
            </a:r>
          </a:p>
          <a:p>
            <a:pPr marL="240665" indent="-227965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D53AD-0285-4407-625A-6233A42537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4798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164644"/>
            <a:ext cx="10333990" cy="567123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Vehicle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detect vehicles from extracted frames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such as cars, bikes, buses, and trucks are identified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vehicle regions are passed to subsequent modules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4: Number Plate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regions are detected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plates are isolated from vehicle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images are prepared for text extraction</a:t>
            </a:r>
          </a:p>
          <a:p>
            <a:pPr marL="240029" indent="-227329">
              <a:lnSpc>
                <a:spcPct val="15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764C-7F8F-FA0E-9322-FDE2CDE58B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126" y="533400"/>
            <a:ext cx="51028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668" y="1447800"/>
            <a:ext cx="9827261" cy="291342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5: Vehicle Attribute Recognition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identify vehicle attributes such as type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data is combined with number plate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accuracy in vehicle verification</a:t>
            </a:r>
          </a:p>
          <a:p>
            <a:pPr marL="240029" indent="-227329">
              <a:lnSpc>
                <a:spcPct val="15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D6FE3-4373-AADB-E24F-538FD7FE89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CE6ABC-38D2-CCD9-FE4F-9C3FA8EA5E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D824B-72EE-B567-C1B7-C47D6007EF79}"/>
              </a:ext>
            </a:extLst>
          </p:cNvPr>
          <p:cNvSpPr txBox="1"/>
          <p:nvPr/>
        </p:nvSpPr>
        <p:spPr>
          <a:xfrm>
            <a:off x="685800" y="203061"/>
            <a:ext cx="10668000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 (SRS)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accept vehicle input through live or recorded video from the toll operator.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detect vehicles and extract vehicle type and number plate using AI models.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generate alerts when suspicious or predefined conditions are detected.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FR-4: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display alerts to the toll operator and send them to the nearby traffic control room.</a:t>
            </a:r>
          </a:p>
        </p:txBody>
      </p:sp>
    </p:spTree>
    <p:extLst>
      <p:ext uri="{BB962C8B-B14F-4D97-AF65-F5344CB8AC3E}">
        <p14:creationId xmlns:p14="http://schemas.microsoft.com/office/powerpoint/2010/main" val="1002015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D8A9BE-FC70-DF06-1036-ABA640355A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E5648-CEFD-6F41-AD6B-B308B0B2C43F}"/>
              </a:ext>
            </a:extLst>
          </p:cNvPr>
          <p:cNvSpPr txBox="1"/>
          <p:nvPr/>
        </p:nvSpPr>
        <p:spPr>
          <a:xfrm>
            <a:off x="838200" y="633042"/>
            <a:ext cx="102108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store alert details including vehicle information, owner details, toll ID, location, date, and time.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FR-6: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support multiple toll plazas using a centralized database.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FR-7: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allow higher authorities (NHAI) to view alerts and vehicle details.</a:t>
            </a:r>
          </a:p>
        </p:txBody>
      </p:sp>
    </p:spTree>
    <p:extLst>
      <p:ext uri="{BB962C8B-B14F-4D97-AF65-F5344CB8AC3E}">
        <p14:creationId xmlns:p14="http://schemas.microsoft.com/office/powerpoint/2010/main" val="1737449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2BAA62-21EE-BAF2-6AC3-6F03072200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73BD3-A204-0E0B-E95D-D415C55A2469}"/>
              </a:ext>
            </a:extLst>
          </p:cNvPr>
          <p:cNvSpPr txBox="1"/>
          <p:nvPr/>
        </p:nvSpPr>
        <p:spPr>
          <a:xfrm>
            <a:off x="533400" y="203061"/>
            <a:ext cx="10820400" cy="648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NFR-1 (Performance):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generate alerts in near real-time and support multiple toll plazas concurrently.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NFR-2 (Security):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shall be restricted to authorized users, and sensitive data shall be protected.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NFR-3 (Reliability):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operate continuously with reliable vehicle detection and alert generation.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NFR-4 (Scalability):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allow the addition of new toll plazas without major changes.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NFR-5 (Usability &amp; Maintainability):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shall provide a user-friendly web interface and support easy maintenance and logging</a:t>
            </a:r>
          </a:p>
        </p:txBody>
      </p:sp>
    </p:spTree>
    <p:extLst>
      <p:ext uri="{BB962C8B-B14F-4D97-AF65-F5344CB8AC3E}">
        <p14:creationId xmlns:p14="http://schemas.microsoft.com/office/powerpoint/2010/main" val="32991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36DA4-1BC1-2B37-C15C-C96FD1BF03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2B84F-3944-DF7B-38E5-9517EF4E1A35}"/>
              </a:ext>
            </a:extLst>
          </p:cNvPr>
          <p:cNvSpPr txBox="1"/>
          <p:nvPr/>
        </p:nvSpPr>
        <p:spPr>
          <a:xfrm>
            <a:off x="609600" y="1015054"/>
            <a:ext cx="11582400" cy="5842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/ Linux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3.x with Django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Library: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Libraries/Tools: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(for video processing)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ORM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062B0-BBFB-B947-4C27-7289292E67A8}"/>
              </a:ext>
            </a:extLst>
          </p:cNvPr>
          <p:cNvSpPr txBox="1"/>
          <p:nvPr/>
        </p:nvSpPr>
        <p:spPr>
          <a:xfrm>
            <a:off x="533400" y="381000"/>
            <a:ext cx="12420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endParaRPr lang="en-I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0614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1109BE-67DF-AD4E-C72B-17A6A712E4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594A-75BE-7679-03AC-9A561011184B}"/>
              </a:ext>
            </a:extLst>
          </p:cNvPr>
          <p:cNvSpPr txBox="1"/>
          <p:nvPr/>
        </p:nvSpPr>
        <p:spPr>
          <a:xfrm>
            <a:off x="457200" y="457200"/>
            <a:ext cx="10287000" cy="5842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Device: Desktop or laptop with modern web browser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Dual-core or higher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2 GB minimum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Quad-core or higher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or higher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SSD with sufficient space for video data and database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Optional but recommended for faster YOLO inference</a:t>
            </a:r>
          </a:p>
        </p:txBody>
      </p:sp>
    </p:spTree>
    <p:extLst>
      <p:ext uri="{BB962C8B-B14F-4D97-AF65-F5344CB8AC3E}">
        <p14:creationId xmlns:p14="http://schemas.microsoft.com/office/powerpoint/2010/main" val="1215749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DF339F-2FC2-E439-20B5-C67F9567EE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4A776-13BF-06F6-D538-E77CA4F6062F}"/>
              </a:ext>
            </a:extLst>
          </p:cNvPr>
          <p:cNvSpPr txBox="1"/>
          <p:nvPr/>
        </p:nvSpPr>
        <p:spPr>
          <a:xfrm>
            <a:off x="381000" y="152400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35D6E-E981-F115-45D3-1AE17507D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90600"/>
            <a:ext cx="10058400" cy="53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6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BC4A5F-1F51-1E56-04B0-0F37AE8BCD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DFAFA-30BE-B38D-B85B-DBB94E131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8104"/>
            <a:ext cx="7867650" cy="5553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B484A-C27B-FB35-543C-FC830AB7DC89}"/>
              </a:ext>
            </a:extLst>
          </p:cNvPr>
          <p:cNvSpPr txBox="1"/>
          <p:nvPr/>
        </p:nvSpPr>
        <p:spPr>
          <a:xfrm>
            <a:off x="685800" y="381000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9481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30B37-0CAE-DCF1-D9B2-F79D43CABE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C3768-AE82-A151-E96E-1126B1D994DF}"/>
              </a:ext>
            </a:extLst>
          </p:cNvPr>
          <p:cNvSpPr txBox="1"/>
          <p:nvPr/>
        </p:nvSpPr>
        <p:spPr>
          <a:xfrm>
            <a:off x="838200" y="304800"/>
            <a:ext cx="4496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C32DC-46DE-EE21-5E54-269A941BA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2146" r="9091" b="9762"/>
          <a:stretch>
            <a:fillRect/>
          </a:stretch>
        </p:blipFill>
        <p:spPr>
          <a:xfrm>
            <a:off x="1295400" y="1066800"/>
            <a:ext cx="9525000" cy="531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35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099F58-FEDD-6259-690C-AECB9DC2B1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4F6D1-CBAD-0E68-F677-AB5C56B40A82}"/>
              </a:ext>
            </a:extLst>
          </p:cNvPr>
          <p:cNvSpPr txBox="1"/>
          <p:nvPr/>
        </p:nvSpPr>
        <p:spPr>
          <a:xfrm>
            <a:off x="381000" y="20306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141BF-976E-0CCC-F0D9-E93037344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6442" r="4717" b="17334"/>
          <a:stretch>
            <a:fillRect/>
          </a:stretch>
        </p:blipFill>
        <p:spPr>
          <a:xfrm>
            <a:off x="4876800" y="304800"/>
            <a:ext cx="7086600" cy="633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4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19D81-A9D3-0A66-CA46-D7A62AA21F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2B8DA-82D5-9DC5-C2BE-7D98C59E7634}"/>
              </a:ext>
            </a:extLst>
          </p:cNvPr>
          <p:cNvSpPr txBox="1"/>
          <p:nvPr/>
        </p:nvSpPr>
        <p:spPr>
          <a:xfrm>
            <a:off x="228600" y="2286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8F643-5D98-EE04-5C37-EBC42CBA2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914400"/>
            <a:ext cx="630790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1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2D8701-6D37-4529-C543-7C5EC04E57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B518B-F237-E48C-381E-F001D7A66AE7}"/>
              </a:ext>
            </a:extLst>
          </p:cNvPr>
          <p:cNvSpPr txBox="1"/>
          <p:nvPr/>
        </p:nvSpPr>
        <p:spPr>
          <a:xfrm>
            <a:off x="609600" y="304800"/>
            <a:ext cx="312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00B5C-C8AB-830C-3670-988240631AB5}"/>
              </a:ext>
            </a:extLst>
          </p:cNvPr>
          <p:cNvSpPr txBox="1"/>
          <p:nvPr/>
        </p:nvSpPr>
        <p:spPr>
          <a:xfrm>
            <a:off x="609600" y="1143000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operator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D603F6-FAF5-E53D-A650-3FE588BE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6400"/>
            <a:ext cx="10272453" cy="4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0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CD296E-52B6-D389-054E-85A2EC12A3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90694-9599-7E43-92B7-B536E8FB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1000"/>
            <a:ext cx="105156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13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2196F1-2624-BA4E-BEBA-E222062FE3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53C76-87AF-4F74-84BC-5A67ACFC1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33400"/>
            <a:ext cx="10439400" cy="58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23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7D2681-EBF7-260B-790B-6784C9161A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71E41-581D-ECDD-C050-E5EAD12F8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3400"/>
            <a:ext cx="10591800" cy="58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6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787FD8-BC2F-15BD-3E62-E3D350B56E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410A6-D4D1-80B8-BC7C-7E573109C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09600"/>
            <a:ext cx="104394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99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CE661D-5619-8616-0DF0-B4650BF5C4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ED20D-4789-2544-4E91-86E6C1153D54}"/>
              </a:ext>
            </a:extLst>
          </p:cNvPr>
          <p:cNvSpPr txBox="1"/>
          <p:nvPr/>
        </p:nvSpPr>
        <p:spPr>
          <a:xfrm>
            <a:off x="762000" y="304800"/>
            <a:ext cx="190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36345-D509-4DDD-3F9A-28C0A6B13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28725"/>
            <a:ext cx="105156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48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D3A9C-D2E0-5974-BB5A-367301C602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BB8C2-D7E0-5232-715A-7AB40F827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0059"/>
            <a:ext cx="9906000" cy="56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64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E8E95A-E274-2A1C-262A-2E5E8ADE2A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632A9-BD0E-5D10-4598-F0AA3D062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57200"/>
            <a:ext cx="10363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86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3213C-F830-D9BF-9979-A75E73A5C1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C5B53-1A64-A0DE-BEF2-11DCA1529038}"/>
              </a:ext>
            </a:extLst>
          </p:cNvPr>
          <p:cNvSpPr txBox="1"/>
          <p:nvPr/>
        </p:nvSpPr>
        <p:spPr>
          <a:xfrm>
            <a:off x="533400" y="381000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4B776-1FDD-80D9-5A87-4A500AEE1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9" t="7543" r="4066" b="14528"/>
          <a:stretch>
            <a:fillRect/>
          </a:stretch>
        </p:blipFill>
        <p:spPr>
          <a:xfrm>
            <a:off x="1923010" y="1128325"/>
            <a:ext cx="8229601" cy="57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2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CDBB50-E8DA-79F0-3AD2-D1DF339BB5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61C89-F2E6-7FE9-63DC-3F8E1B534DBE}"/>
              </a:ext>
            </a:extLst>
          </p:cNvPr>
          <p:cNvSpPr txBox="1"/>
          <p:nvPr/>
        </p:nvSpPr>
        <p:spPr>
          <a:xfrm>
            <a:off x="533400" y="228600"/>
            <a:ext cx="9829800" cy="621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4000" b="1" u="sng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 MODULES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1.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Front-End Module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Provides two separate login interfaces: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Toll Operator login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Higher Authority (NHAI) login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Toll Operator can: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Upload recorded video or use live camera feed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View detected vehicle details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View real-time alerts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79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E5996F-0FF2-F510-0C1A-79B3138E28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B42DB-E91C-E780-92CC-223875F43F12}"/>
              </a:ext>
            </a:extLst>
          </p:cNvPr>
          <p:cNvSpPr txBox="1"/>
          <p:nvPr/>
        </p:nvSpPr>
        <p:spPr>
          <a:xfrm>
            <a:off x="685800" y="457200"/>
            <a:ext cx="8686800" cy="629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NHAI can: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View alerts from all toll plazas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 vehicles to the database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Edit vehicle details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Remove vehicles from the database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Implements role-based access control.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>
              <a:latin typeface="Times New Roman" panose="02020603050405020304" pitchFamily="18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2.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Back-End Module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Handles all requests from the front end.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Authenticates users and manages access roles.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Controls data flow between AI module, database, and alert system.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23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36A35D-5F60-CFC9-7392-FB3E5AE3E7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3806D-4B7B-6C78-D13F-973370541567}"/>
              </a:ext>
            </a:extLst>
          </p:cNvPr>
          <p:cNvSpPr txBox="1"/>
          <p:nvPr/>
        </p:nvSpPr>
        <p:spPr>
          <a:xfrm>
            <a:off x="457200" y="-152400"/>
            <a:ext cx="9601200" cy="5312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 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Performs vehicle verification logic.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Sends real-time alert data to the traffic control room.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3.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Kartika" panose="02020503030404060203" pitchFamily="18" charset="0"/>
              </a:rPr>
              <a:t> </a:t>
            </a: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AI / Vehicle Detection Module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Processes live and recorded video input.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Detects vehicles from video frames.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Extracts vehicle number plate details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Kartika" panose="02020503030404060203" pitchFamily="18" charset="0"/>
              </a:rPr>
              <a:t>Sends detected vehicle data to the back end in real time.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994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BF6BE9-79B4-1C24-C900-5C74B5EE3C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38422-0C63-667A-5AEF-36A0DF91BD3F}"/>
              </a:ext>
            </a:extLst>
          </p:cNvPr>
          <p:cNvSpPr txBox="1"/>
          <p:nvPr/>
        </p:nvSpPr>
        <p:spPr>
          <a:xfrm>
            <a:off x="762000" y="394932"/>
            <a:ext cx="10591800" cy="681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Database Module</a:t>
            </a:r>
            <a:endParaRPr lang="en-IN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Stores authorized / reference vehicle data (managed by NHAI).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Stores recently detected vehicle data for verification.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Supports fast data comparison.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Used for real-time processing, not long-term alert history.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Alert System Module</a:t>
            </a:r>
            <a:endParaRPr lang="en-IN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Generates alerts when suspicious or matched vehicles are detected.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Uses the latest verified vehicle data.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Sends alerts to: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Toll operator interface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Nearby traffic control room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Operates in real time.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57444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61C21C-7734-BF7B-332E-932A925A11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1EA62-91CD-8756-06AB-5B8B0431061F}"/>
              </a:ext>
            </a:extLst>
          </p:cNvPr>
          <p:cNvSpPr txBox="1"/>
          <p:nvPr/>
        </p:nvSpPr>
        <p:spPr>
          <a:xfrm>
            <a:off x="381000" y="203061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D2BE4-8D1A-0C3B-128D-B9DDFBD0C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124873"/>
            <a:ext cx="6400800" cy="539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05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FAB08-A7E9-D036-04B0-49E667E956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FD24D-B276-157B-DBD8-5B1120DA454D}"/>
              </a:ext>
            </a:extLst>
          </p:cNvPr>
          <p:cNvSpPr txBox="1"/>
          <p:nvPr/>
        </p:nvSpPr>
        <p:spPr>
          <a:xfrm>
            <a:off x="381000" y="76200"/>
            <a:ext cx="32012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images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ABB0A9-7EE3-EAB3-9830-B37AF1642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04800"/>
            <a:ext cx="6051176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3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A7E1C-F1DE-E2E7-8F0D-A0F30DF4E3D9}"/>
              </a:ext>
            </a:extLst>
          </p:cNvPr>
          <p:cNvSpPr txBox="1"/>
          <p:nvPr/>
        </p:nvSpPr>
        <p:spPr>
          <a:xfrm>
            <a:off x="609600" y="609601"/>
            <a:ext cx="10744200" cy="4950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/>
              <a:t>The main objective of this project is to automatically detect vehicles at toll plazas using computer vision and artificial intelligence, verify them against a predefined vehicle database, and generate real-time alerts in case of mismatches, violations, or flagged </a:t>
            </a:r>
            <a:r>
              <a:rPr lang="en-US" sz="2400" dirty="0" err="1"/>
              <a:t>vehicles.Currently</a:t>
            </a:r>
            <a:r>
              <a:rPr lang="en-US" sz="2400" dirty="0"/>
              <a:t>, toll monitoring is largely manual and time-consuming. Our system aims to reduce human effort, improve accuracy, and enhance security by using YOLO-based vehicle detection, a Django backend, and a MySQL database.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4AEE-4255-2399-168E-D40ED29D6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89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418976"/>
            <a:ext cx="39338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EE10C-F961-2B2A-8248-2A888ADFE39E}"/>
              </a:ext>
            </a:extLst>
          </p:cNvPr>
          <p:cNvSpPr txBox="1"/>
          <p:nvPr/>
        </p:nvSpPr>
        <p:spPr>
          <a:xfrm>
            <a:off x="342900" y="1600200"/>
            <a:ext cx="1150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Shjarback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A., &amp; Sarkos, J. A. (2025). An Evaluation of a Major Expansion in    Automated License Plate Reader (ALPR) Technology. Justice Evaluation Journal, 1-18.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Kumawat, K., Jain, A., &amp; Tiwari, N. (2024). Relevance of automatic number plate recognition systems in vehicle theft detection. Engineering Proceedings, 59(1), 185.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Mukaram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Safaldin,Nizar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Zaghden,Mahmoud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MejdoubAn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YOLOv8 to Detect Moving Objects Jan 2024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Aug 2024 Caixia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Lv,Usha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Mittal,vishu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Madaan,Prateek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Agrawal Vehicle detection and classification using an ensemble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EfficientDet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YOLOv8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B1EA-372C-8884-371F-EAA8D1B4EA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165B4-355D-191F-D985-45AA71908674}"/>
              </a:ext>
            </a:extLst>
          </p:cNvPr>
          <p:cNvSpPr txBox="1"/>
          <p:nvPr/>
        </p:nvSpPr>
        <p:spPr>
          <a:xfrm>
            <a:off x="457200" y="1371600"/>
            <a:ext cx="1120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Azfar, J. Li, H. Yu, R. L. Cheu, Y.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Ke, “Deep learning-based computer vision methods for complex traffic environments perception: A review,”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Sci. for Transp.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p. 1, Apr. 2024.</a:t>
            </a:r>
          </a:p>
          <a:p>
            <a:pPr algn="just"/>
            <a:endParaRPr lang="en-IN" sz="2400" dirty="0"/>
          </a:p>
          <a:p>
            <a:pPr algn="just"/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Chughtai, B. R., &amp; Jalal, A. (2024, February). Traffic surveillance system: robust multiclass vehicle detection and classification. In 2024 5th International conference on advancements in computational sciences (ICACS) (pp. 1-8). IEEE.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5A8F5-42F5-97C6-6ED6-91BEFCC53D37}"/>
              </a:ext>
            </a:extLst>
          </p:cNvPr>
          <p:cNvSpPr txBox="1"/>
          <p:nvPr/>
        </p:nvSpPr>
        <p:spPr>
          <a:xfrm>
            <a:off x="4572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28E229-EAB7-D1D6-2374-2FE65E6641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13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DEAE80-41F5-41EC-37DD-B392EF7912F1}"/>
              </a:ext>
            </a:extLst>
          </p:cNvPr>
          <p:cNvSpPr txBox="1"/>
          <p:nvPr/>
        </p:nvSpPr>
        <p:spPr>
          <a:xfrm>
            <a:off x="3505200" y="259080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29F424-5EBF-F236-484D-9E515FFD4F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</TotalTime>
  <Words>2144</Words>
  <Application>Microsoft Office PowerPoint</Application>
  <PresentationFormat>Widescreen</PresentationFormat>
  <Paragraphs>289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Aptos</vt:lpstr>
      <vt:lpstr>Arial</vt:lpstr>
      <vt:lpstr>Arial MT</vt:lpstr>
      <vt:lpstr>Calibri</vt:lpstr>
      <vt:lpstr>Calibri Light</vt:lpstr>
      <vt:lpstr>Courier New</vt:lpstr>
      <vt:lpstr>Symbol</vt:lpstr>
      <vt:lpstr>Times New Roman</vt:lpstr>
      <vt:lpstr>Office Theme</vt:lpstr>
      <vt:lpstr>Toll Sentinal Ai: AI-Based Vehicle Identification &amp; Verification System at Toll Plazas</vt:lpstr>
      <vt:lpstr>PowerPoint Presentation</vt:lpstr>
      <vt:lpstr>Introduction</vt:lpstr>
      <vt:lpstr>Objective of the project</vt:lpstr>
      <vt:lpstr>Motivation</vt:lpstr>
      <vt:lpstr>Existing System</vt:lpstr>
      <vt:lpstr>Proposed System</vt:lpstr>
      <vt:lpstr>Literature Review</vt:lpstr>
      <vt:lpstr>Literature Review</vt:lpstr>
      <vt:lpstr>PowerPoint Presentation</vt:lpstr>
      <vt:lpstr>Basic Block Diagram</vt:lpstr>
      <vt:lpstr>Project work plan</vt:lpstr>
      <vt:lpstr>Project work plan</vt:lpstr>
      <vt:lpstr>Project work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Amrutha Amrutha</dc:creator>
  <cp:lastModifiedBy>VISHNU HAREENDRAN</cp:lastModifiedBy>
  <cp:revision>11</cp:revision>
  <dcterms:created xsi:type="dcterms:W3CDTF">2025-12-28T13:07:15Z</dcterms:created>
  <dcterms:modified xsi:type="dcterms:W3CDTF">2026-02-08T17:13:34Z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2025-12-28T00:00:00Z</vt:filetime>
  </property>
  <property fmtid="{D5CDD505-2E9C-101B-9397-08002B2CF9AE}" pid="5" name="Producer">
    <vt:lpwstr>Microsoft® PowerPoint® 2019</vt:lpwstr>
  </property>
</Properties>
</file>